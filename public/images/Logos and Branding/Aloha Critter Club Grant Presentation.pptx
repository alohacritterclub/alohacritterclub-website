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embeddedFontLst>
    <p:embeddedFont>
      <p:font typeface="Lexend Light"/>
      <p:regular r:id="rId16"/>
      <p:bold r:id="rId17"/>
    </p:embeddedFont>
    <p:embeddedFont>
      <p:font typeface="Lexend"/>
      <p:regular r:id="rId18"/>
      <p:bold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LexendLight-bold.fntdata"/><Relationship Id="rId16" Type="http://schemas.openxmlformats.org/officeDocument/2006/relationships/font" Target="fonts/LexendLight-regular.fntdata"/><Relationship Id="rId5" Type="http://schemas.openxmlformats.org/officeDocument/2006/relationships/notesMaster" Target="notesMasters/notesMaster1.xml"/><Relationship Id="rId19" Type="http://schemas.openxmlformats.org/officeDocument/2006/relationships/font" Target="fonts/Lexend-bold.fntdata"/><Relationship Id="rId6" Type="http://schemas.openxmlformats.org/officeDocument/2006/relationships/slide" Target="slides/slide1.xml"/><Relationship Id="rId18" Type="http://schemas.openxmlformats.org/officeDocument/2006/relationships/font" Target="fonts/Lexend-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3" name="Google Shape;53;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2ec3a91219a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2ec3a91219a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2ec3a91219a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2ec3a91219a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2ec3a91219a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2ec3a91219a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2ec3a91219a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2ec3a91219a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2ec3a91219a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2ec3a91219a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2ec3a91219a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2ec3a91219a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 potential match at this time.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2ec3a91219a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2ec3a91219a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2ec3a91219a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2ec3a91219a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Include Native Hawaiian Cultural Practices (brochures and other information in Hawaiian language)...field trips with a hawaiian base organization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How to incorporate families with the things we’re learning</a:t>
            </a:r>
            <a:endParaRPr/>
          </a:p>
          <a:p>
            <a:pPr indent="0" lvl="0" marL="0" rtl="0" algn="l">
              <a:spcBef>
                <a:spcPts val="0"/>
              </a:spcBef>
              <a:spcAft>
                <a:spcPts val="0"/>
              </a:spcAft>
              <a:buNone/>
            </a:pPr>
            <a:r>
              <a:rPr lang="en"/>
              <a:t>–What is our need? We started ACC because of this…(can tell through the use of storytelling)</a:t>
            </a:r>
            <a:endParaRPr/>
          </a:p>
          <a:p>
            <a:pPr indent="0" lvl="0" marL="0" rtl="0" algn="l">
              <a:spcBef>
                <a:spcPts val="0"/>
              </a:spcBef>
              <a:spcAft>
                <a:spcPts val="0"/>
              </a:spcAft>
              <a:buNone/>
            </a:pPr>
            <a:r>
              <a:rPr lang="en"/>
              <a:t>–Include “Theory of Change”...if we do this, then this can happen in the future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Impact data:</a:t>
            </a:r>
            <a:endParaRPr/>
          </a:p>
          <a:p>
            <a:pPr indent="0" lvl="0" marL="0" rtl="0" algn="l">
              <a:spcBef>
                <a:spcPts val="0"/>
              </a:spcBef>
              <a:spcAft>
                <a:spcPts val="0"/>
              </a:spcAft>
              <a:buNone/>
            </a:pPr>
            <a:r>
              <a:rPr lang="en"/>
              <a:t>– # of schools and which specific schools</a:t>
            </a:r>
            <a:endParaRPr/>
          </a:p>
          <a:p>
            <a:pPr indent="0" lvl="0" marL="0" rtl="0" algn="l">
              <a:spcBef>
                <a:spcPts val="0"/>
              </a:spcBef>
              <a:spcAft>
                <a:spcPts val="0"/>
              </a:spcAft>
              <a:buNone/>
            </a:pPr>
            <a:r>
              <a:rPr lang="en"/>
              <a:t>– What the students have learned and if we changed </a:t>
            </a:r>
            <a:r>
              <a:rPr lang="en"/>
              <a:t>anything</a:t>
            </a:r>
            <a:r>
              <a:rPr lang="en"/>
              <a:t> because of their suggestions</a:t>
            </a:r>
            <a:endParaRPr/>
          </a:p>
          <a:p>
            <a:pPr indent="0" lvl="0" marL="0" rtl="0" algn="l">
              <a:spcBef>
                <a:spcPts val="0"/>
              </a:spcBef>
              <a:spcAft>
                <a:spcPts val="0"/>
              </a:spcAft>
              <a:buNone/>
            </a:pPr>
            <a:r>
              <a:rPr lang="en"/>
              <a:t>– don’t need to include attendance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should show that we are aware of </a:t>
            </a:r>
            <a:r>
              <a:rPr lang="en"/>
              <a:t>similar</a:t>
            </a:r>
            <a:r>
              <a:rPr lang="en"/>
              <a:t> organizations doing what we’re doing (Aloha Ilio, Humane Society…)  We don’t want to come across and say that we are the only organization on this island that…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Income Budget</a:t>
            </a:r>
            <a:endParaRPr/>
          </a:p>
          <a:p>
            <a:pPr indent="0" lvl="0" marL="0" rtl="0" algn="l">
              <a:spcBef>
                <a:spcPts val="0"/>
              </a:spcBef>
              <a:spcAft>
                <a:spcPts val="0"/>
              </a:spcAft>
              <a:buNone/>
            </a:pPr>
            <a:r>
              <a:rPr lang="en"/>
              <a:t>– to identify pending and secured (if all is pending that’s ok)</a:t>
            </a:r>
            <a:endParaRPr/>
          </a:p>
          <a:p>
            <a:pPr indent="0" lvl="0" marL="0" rtl="0" algn="l">
              <a:spcBef>
                <a:spcPts val="0"/>
              </a:spcBef>
              <a:spcAft>
                <a:spcPts val="0"/>
              </a:spcAft>
              <a:buNone/>
            </a:pPr>
            <a:r>
              <a:rPr lang="en"/>
              <a:t>– East Hawaii Fund will not come back to us if we are asking for 10K and they can only give us 5K.</a:t>
            </a:r>
            <a:endParaRPr/>
          </a:p>
          <a:p>
            <a:pPr indent="0" lvl="0" marL="0" rtl="0" algn="l">
              <a:spcBef>
                <a:spcPts val="0"/>
              </a:spcBef>
              <a:spcAft>
                <a:spcPts val="0"/>
              </a:spcAft>
              <a:buNone/>
            </a:pPr>
            <a:r>
              <a:rPr lang="en"/>
              <a:t>– Be very specific with the numbers and what we’ll be using it for.  Don’t just put it in one sentence, spell it out to them of what we’ll be using it for…so that they have no questions.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2ec3a91219a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2ec3a91219a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2D81A6"/>
        </a:solidFill>
      </p:bgPr>
    </p:bg>
    <p:spTree>
      <p:nvGrpSpPr>
        <p:cNvPr id="10" name="Shape 10"/>
        <p:cNvGrpSpPr/>
        <p:nvPr/>
      </p:nvGrpSpPr>
      <p:grpSpPr>
        <a:xfrm>
          <a:off x="0" y="0"/>
          <a:ext cx="0" cy="0"/>
          <a:chOff x="0" y="0"/>
          <a:chExt cx="0" cy="0"/>
        </a:xfrm>
      </p:grpSpPr>
      <p:sp>
        <p:nvSpPr>
          <p:cNvPr id="11" name="Google Shape;11;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5200"/>
              <a:buFont typeface="Lexend"/>
              <a:buNone/>
              <a:defRPr sz="5200">
                <a:solidFill>
                  <a:schemeClr val="lt1"/>
                </a:solidFill>
                <a:latin typeface="Lexend"/>
                <a:ea typeface="Lexend"/>
                <a:cs typeface="Lexend"/>
                <a:sym typeface="Lexend"/>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2" name="Google Shape;12;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2800"/>
              <a:buFont typeface="Lexend Light"/>
              <a:buNone/>
              <a:defRPr sz="2800">
                <a:solidFill>
                  <a:schemeClr val="lt1"/>
                </a:solidFill>
                <a:latin typeface="Lexend Light"/>
                <a:ea typeface="Lexend Light"/>
                <a:cs typeface="Lexend Light"/>
                <a:sym typeface="Lexend Light"/>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 name="Google Shape;19;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0" name="Google Shape;20;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3" name="Google Shape;23;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8" name="Google Shape;28;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1" name="Google Shape;31;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3" name="Shape 33"/>
        <p:cNvGrpSpPr/>
        <p:nvPr/>
      </p:nvGrpSpPr>
      <p:grpSpPr>
        <a:xfrm>
          <a:off x="0" y="0"/>
          <a:ext cx="0" cy="0"/>
          <a:chOff x="0" y="0"/>
          <a:chExt cx="0" cy="0"/>
        </a:xfrm>
      </p:grpSpPr>
      <p:sp>
        <p:nvSpPr>
          <p:cNvPr id="34" name="Google Shape;34;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5" name="Google Shape;35;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9" name="Google Shape;39;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0" name="Google Shape;40;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1" name="Google Shape;41;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2" name="Shape 42"/>
        <p:cNvGrpSpPr/>
        <p:nvPr/>
      </p:nvGrpSpPr>
      <p:grpSpPr>
        <a:xfrm>
          <a:off x="0" y="0"/>
          <a:ext cx="0" cy="0"/>
          <a:chOff x="0" y="0"/>
          <a:chExt cx="0" cy="0"/>
        </a:xfrm>
      </p:grpSpPr>
      <p:sp>
        <p:nvSpPr>
          <p:cNvPr id="43" name="Google Shape;43;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4" name="Google Shape;4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5" name="Shape 45"/>
        <p:cNvGrpSpPr/>
        <p:nvPr/>
      </p:nvGrpSpPr>
      <p:grpSpPr>
        <a:xfrm>
          <a:off x="0" y="0"/>
          <a:ext cx="0" cy="0"/>
          <a:chOff x="0" y="0"/>
          <a:chExt cx="0" cy="0"/>
        </a:xfrm>
      </p:grpSpPr>
      <p:sp>
        <p:nvSpPr>
          <p:cNvPr id="46" name="Google Shape;46;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7" name="Google Shape;47;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8" name="Google Shape;48;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9" name="Shape 49"/>
        <p:cNvGrpSpPr/>
        <p:nvPr/>
      </p:nvGrpSpPr>
      <p:grpSpPr>
        <a:xfrm>
          <a:off x="0" y="0"/>
          <a:ext cx="0" cy="0"/>
          <a:chOff x="0" y="0"/>
          <a:chExt cx="0" cy="0"/>
        </a:xfrm>
      </p:grpSpPr>
      <p:sp>
        <p:nvSpPr>
          <p:cNvPr id="50" name="Google Shape;50;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Lexend Light"/>
              <a:buChar char="●"/>
              <a:defRPr sz="1800">
                <a:solidFill>
                  <a:schemeClr val="dk2"/>
                </a:solidFill>
                <a:latin typeface="Lexend Light"/>
                <a:ea typeface="Lexend Light"/>
                <a:cs typeface="Lexend Light"/>
                <a:sym typeface="Lexend Light"/>
              </a:defRPr>
            </a:lvl1pPr>
            <a:lvl2pPr indent="-317500" lvl="1" marL="914400">
              <a:lnSpc>
                <a:spcPct val="115000"/>
              </a:lnSpc>
              <a:spcBef>
                <a:spcPts val="0"/>
              </a:spcBef>
              <a:spcAft>
                <a:spcPts val="0"/>
              </a:spcAft>
              <a:buClr>
                <a:schemeClr val="dk2"/>
              </a:buClr>
              <a:buSzPts val="1400"/>
              <a:buFont typeface="Lexend Light"/>
              <a:buChar char="○"/>
              <a:defRPr>
                <a:solidFill>
                  <a:schemeClr val="dk2"/>
                </a:solidFill>
                <a:latin typeface="Lexend Light"/>
                <a:ea typeface="Lexend Light"/>
                <a:cs typeface="Lexend Light"/>
                <a:sym typeface="Lexend Light"/>
              </a:defRPr>
            </a:lvl2pPr>
            <a:lvl3pPr indent="-317500" lvl="2" marL="1371600">
              <a:lnSpc>
                <a:spcPct val="115000"/>
              </a:lnSpc>
              <a:spcBef>
                <a:spcPts val="0"/>
              </a:spcBef>
              <a:spcAft>
                <a:spcPts val="0"/>
              </a:spcAft>
              <a:buClr>
                <a:schemeClr val="dk2"/>
              </a:buClr>
              <a:buSzPts val="1400"/>
              <a:buFont typeface="Lexend Light"/>
              <a:buChar char="■"/>
              <a:defRPr>
                <a:solidFill>
                  <a:schemeClr val="dk2"/>
                </a:solidFill>
                <a:latin typeface="Lexend Light"/>
                <a:ea typeface="Lexend Light"/>
                <a:cs typeface="Lexend Light"/>
                <a:sym typeface="Lexend Light"/>
              </a:defRPr>
            </a:lvl3pPr>
            <a:lvl4pPr indent="-317500" lvl="3" marL="1828800">
              <a:lnSpc>
                <a:spcPct val="115000"/>
              </a:lnSpc>
              <a:spcBef>
                <a:spcPts val="0"/>
              </a:spcBef>
              <a:spcAft>
                <a:spcPts val="0"/>
              </a:spcAft>
              <a:buClr>
                <a:schemeClr val="dk2"/>
              </a:buClr>
              <a:buSzPts val="1400"/>
              <a:buFont typeface="Lexend Light"/>
              <a:buChar char="●"/>
              <a:defRPr>
                <a:solidFill>
                  <a:schemeClr val="dk2"/>
                </a:solidFill>
                <a:latin typeface="Lexend Light"/>
                <a:ea typeface="Lexend Light"/>
                <a:cs typeface="Lexend Light"/>
                <a:sym typeface="Lexend Light"/>
              </a:defRPr>
            </a:lvl4pPr>
            <a:lvl5pPr indent="-317500" lvl="4" marL="2286000">
              <a:lnSpc>
                <a:spcPct val="115000"/>
              </a:lnSpc>
              <a:spcBef>
                <a:spcPts val="0"/>
              </a:spcBef>
              <a:spcAft>
                <a:spcPts val="0"/>
              </a:spcAft>
              <a:buClr>
                <a:schemeClr val="dk2"/>
              </a:buClr>
              <a:buSzPts val="1400"/>
              <a:buFont typeface="Lexend Light"/>
              <a:buChar char="○"/>
              <a:defRPr>
                <a:solidFill>
                  <a:schemeClr val="dk2"/>
                </a:solidFill>
                <a:latin typeface="Lexend Light"/>
                <a:ea typeface="Lexend Light"/>
                <a:cs typeface="Lexend Light"/>
                <a:sym typeface="Lexend Light"/>
              </a:defRPr>
            </a:lvl5pPr>
            <a:lvl6pPr indent="-317500" lvl="5" marL="2743200">
              <a:lnSpc>
                <a:spcPct val="115000"/>
              </a:lnSpc>
              <a:spcBef>
                <a:spcPts val="0"/>
              </a:spcBef>
              <a:spcAft>
                <a:spcPts val="0"/>
              </a:spcAft>
              <a:buClr>
                <a:schemeClr val="dk2"/>
              </a:buClr>
              <a:buSzPts val="1400"/>
              <a:buFont typeface="Lexend Light"/>
              <a:buChar char="■"/>
              <a:defRPr>
                <a:solidFill>
                  <a:schemeClr val="dk2"/>
                </a:solidFill>
                <a:latin typeface="Lexend Light"/>
                <a:ea typeface="Lexend Light"/>
                <a:cs typeface="Lexend Light"/>
                <a:sym typeface="Lexend Light"/>
              </a:defRPr>
            </a:lvl6pPr>
            <a:lvl7pPr indent="-317500" lvl="6" marL="3200400">
              <a:lnSpc>
                <a:spcPct val="115000"/>
              </a:lnSpc>
              <a:spcBef>
                <a:spcPts val="0"/>
              </a:spcBef>
              <a:spcAft>
                <a:spcPts val="0"/>
              </a:spcAft>
              <a:buClr>
                <a:schemeClr val="dk2"/>
              </a:buClr>
              <a:buSzPts val="1400"/>
              <a:buFont typeface="Lexend Light"/>
              <a:buChar char="●"/>
              <a:defRPr>
                <a:solidFill>
                  <a:schemeClr val="dk2"/>
                </a:solidFill>
                <a:latin typeface="Lexend Light"/>
                <a:ea typeface="Lexend Light"/>
                <a:cs typeface="Lexend Light"/>
                <a:sym typeface="Lexend Light"/>
              </a:defRPr>
            </a:lvl7pPr>
            <a:lvl8pPr indent="-317500" lvl="7" marL="3657600">
              <a:lnSpc>
                <a:spcPct val="115000"/>
              </a:lnSpc>
              <a:spcBef>
                <a:spcPts val="0"/>
              </a:spcBef>
              <a:spcAft>
                <a:spcPts val="0"/>
              </a:spcAft>
              <a:buClr>
                <a:schemeClr val="dk2"/>
              </a:buClr>
              <a:buSzPts val="1400"/>
              <a:buFont typeface="Lexend Light"/>
              <a:buChar char="○"/>
              <a:defRPr>
                <a:solidFill>
                  <a:schemeClr val="dk2"/>
                </a:solidFill>
                <a:latin typeface="Lexend Light"/>
                <a:ea typeface="Lexend Light"/>
                <a:cs typeface="Lexend Light"/>
                <a:sym typeface="Lexend Light"/>
              </a:defRPr>
            </a:lvl8pPr>
            <a:lvl9pPr indent="-317500" lvl="8" marL="4114800">
              <a:lnSpc>
                <a:spcPct val="115000"/>
              </a:lnSpc>
              <a:spcBef>
                <a:spcPts val="0"/>
              </a:spcBef>
              <a:spcAft>
                <a:spcPts val="0"/>
              </a:spcAft>
              <a:buClr>
                <a:schemeClr val="dk2"/>
              </a:buClr>
              <a:buSzPts val="1400"/>
              <a:buFont typeface="Lexend Light"/>
              <a:buChar char="■"/>
              <a:defRPr>
                <a:solidFill>
                  <a:schemeClr val="dk2"/>
                </a:solidFill>
                <a:latin typeface="Lexend Light"/>
                <a:ea typeface="Lexend Light"/>
                <a:cs typeface="Lexend Light"/>
                <a:sym typeface="Lexend Light"/>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pic>
        <p:nvPicPr>
          <p:cNvPr id="9" name="Google Shape;9;p1" title="logo without background copy 3.png"/>
          <p:cNvPicPr preferRelativeResize="0"/>
          <p:nvPr/>
        </p:nvPicPr>
        <p:blipFill>
          <a:blip r:embed="rId1">
            <a:alphaModFix/>
          </a:blip>
          <a:stretch>
            <a:fillRect/>
          </a:stretch>
        </p:blipFill>
        <p:spPr>
          <a:xfrm>
            <a:off x="7689850" y="4300"/>
            <a:ext cx="1454150" cy="145415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hyperlink" Target="https://www.alohacritterclub.org/event"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sp>
        <p:nvSpPr>
          <p:cNvPr id="55" name="Google Shape;55;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Aloha Critter Club</a:t>
            </a:r>
            <a:endParaRPr/>
          </a:p>
        </p:txBody>
      </p:sp>
      <p:sp>
        <p:nvSpPr>
          <p:cNvPr id="56" name="Google Shape;56;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Our Story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Who Are We?</a:t>
            </a:r>
            <a:endParaRPr b="1"/>
          </a:p>
        </p:txBody>
      </p:sp>
      <p:sp>
        <p:nvSpPr>
          <p:cNvPr id="62" name="Google Shape;62;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sz="2000"/>
          </a:p>
          <a:p>
            <a:pPr indent="0" lvl="0" marL="0" rtl="0" algn="ctr">
              <a:spcBef>
                <a:spcPts val="1200"/>
              </a:spcBef>
              <a:spcAft>
                <a:spcPts val="1200"/>
              </a:spcAft>
              <a:buNone/>
            </a:pPr>
            <a:r>
              <a:rPr lang="en" sz="2000"/>
              <a:t>Join us in our mission to create animal experts that take meaningful action within their community! We are a non-profit organization that helps schools build after-school clubs that focus on social emotional learning (SEL) through a shared love for animals, in an effort to improve animal welfare and build a better community.</a:t>
            </a:r>
            <a:endParaRPr sz="20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pic>
        <p:nvPicPr>
          <p:cNvPr id="67" name="Google Shape;67;p15"/>
          <p:cNvPicPr preferRelativeResize="0"/>
          <p:nvPr/>
        </p:nvPicPr>
        <p:blipFill>
          <a:blip r:embed="rId3">
            <a:alphaModFix/>
          </a:blip>
          <a:stretch>
            <a:fillRect/>
          </a:stretch>
        </p:blipFill>
        <p:spPr>
          <a:xfrm>
            <a:off x="729875" y="231450"/>
            <a:ext cx="4960201" cy="46806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pic>
        <p:nvPicPr>
          <p:cNvPr id="72" name="Google Shape;72;p16"/>
          <p:cNvPicPr preferRelativeResize="0"/>
          <p:nvPr/>
        </p:nvPicPr>
        <p:blipFill>
          <a:blip r:embed="rId3">
            <a:alphaModFix/>
          </a:blip>
          <a:stretch>
            <a:fillRect/>
          </a:stretch>
        </p:blipFill>
        <p:spPr>
          <a:xfrm>
            <a:off x="732001" y="0"/>
            <a:ext cx="4422699" cy="514350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7"/>
          <p:cNvSpPr txBox="1"/>
          <p:nvPr>
            <p:ph idx="4294967295" type="body"/>
          </p:nvPr>
        </p:nvSpPr>
        <p:spPr>
          <a:xfrm>
            <a:off x="760675" y="791350"/>
            <a:ext cx="48708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4100" u="sng">
                <a:solidFill>
                  <a:schemeClr val="hlink"/>
                </a:solidFill>
                <a:hlinkClick r:id="rId3"/>
              </a:rPr>
              <a:t>Let's check out what we've done!</a:t>
            </a:r>
            <a:endParaRPr sz="41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8"/>
          <p:cNvSpPr txBox="1"/>
          <p:nvPr>
            <p:ph type="title"/>
          </p:nvPr>
        </p:nvSpPr>
        <p:spPr>
          <a:xfrm>
            <a:off x="490250" y="450150"/>
            <a:ext cx="6976200" cy="4090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lang="en" sz="3020"/>
              <a:t>Background (share verbally): </a:t>
            </a:r>
            <a:endParaRPr sz="3020"/>
          </a:p>
          <a:p>
            <a:pPr indent="0" lvl="0" marL="0" rtl="0" algn="l">
              <a:spcBef>
                <a:spcPts val="0"/>
              </a:spcBef>
              <a:spcAft>
                <a:spcPts val="0"/>
              </a:spcAft>
              <a:buSzPts val="990"/>
              <a:buNone/>
            </a:pPr>
            <a:r>
              <a:rPr i="1" lang="en" sz="3020">
                <a:solidFill>
                  <a:srgbClr val="2783B7"/>
                </a:solidFill>
              </a:rPr>
              <a:t>We are in the early stages of seeking external funding. Besides some donations, we have not attempted to secure outside funding. But we recognize now that this is the only way for us to expand our impact.</a:t>
            </a:r>
            <a:endParaRPr i="1" sz="3020">
              <a:solidFill>
                <a:srgbClr val="2783B7"/>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Question 1</a:t>
            </a:r>
            <a:endParaRPr/>
          </a:p>
        </p:txBody>
      </p:sp>
      <p:sp>
        <p:nvSpPr>
          <p:cNvPr id="88" name="Google Shape;88;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
              <a:t>I know Hau’oli Mau Loa foundation doesn’t accept unsolicited grant proposals. Based off of our story, do we fit as a potential match with your organization’s strategic direction? Specifically, do we align with the “Hope for Kids” or “First Generation Partners” strategic initiatives?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b="1" i="1" lang="en">
                <a:latin typeface="Lexend"/>
                <a:ea typeface="Lexend"/>
                <a:cs typeface="Lexend"/>
                <a:sym typeface="Lexend"/>
              </a:rPr>
              <a:t>If so, go to slide 8. Otherwise, skip to slide 9. </a:t>
            </a:r>
            <a:r>
              <a:rPr lang="en"/>
              <a:t>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Question 2</a:t>
            </a:r>
            <a:endParaRPr/>
          </a:p>
        </p:txBody>
      </p:sp>
      <p:sp>
        <p:nvSpPr>
          <p:cNvPr id="94" name="Google Shape;94;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What would be the next steps to securing a grant application? Are there specific impact measurements you are looking for as an organization?</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Question 3 (if we aren’t a match)</a:t>
            </a:r>
            <a:endParaRPr/>
          </a:p>
        </p:txBody>
      </p:sp>
      <p:sp>
        <p:nvSpPr>
          <p:cNvPr id="100" name="Google Shape;100;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Thank you so much for still </a:t>
            </a:r>
            <a:r>
              <a:rPr lang="en"/>
              <a:t>taking</a:t>
            </a:r>
            <a:r>
              <a:rPr lang="en"/>
              <a:t> the time to listen to our story. I know Tara mentioned that you used to work for Hawai’i Community Foundation. We are applying for the East Hawai’i Fund, and I was wondering if you had any tips on the application. Specifically, if there are particular impact points that they are looking for in their proposals? </a:t>
            </a:r>
            <a:endParaRPr/>
          </a:p>
          <a:p>
            <a:pPr indent="0" lvl="0" marL="0" rtl="0" algn="l">
              <a:spcBef>
                <a:spcPts val="1200"/>
              </a:spcBef>
              <a:spcAft>
                <a:spcPts val="1200"/>
              </a:spcAft>
              <a:buNone/>
            </a:pPr>
            <a:r>
              <a:rPr lang="en"/>
              <a:t>E.g.: What type of data tends to be on successful grant proposals?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Question 4</a:t>
            </a:r>
            <a:endParaRPr/>
          </a:p>
        </p:txBody>
      </p:sp>
      <p:sp>
        <p:nvSpPr>
          <p:cNvPr id="106" name="Google Shape;106;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Do you mind if we ask a quick funding question? From what I understand, typically, East Hawai’i fund works with 5K or 10K proposals. Is it </a:t>
            </a:r>
            <a:r>
              <a:rPr lang="en"/>
              <a:t>beneficial to ask for $10,000 if that aligns with our budget proposals? And if we ask for $10,000, would they also consider coming back to us if they can’t offer 10K, but can offer 5K, and allow us to adjust our proposal?</a:t>
            </a:r>
            <a:endParaRPr/>
          </a:p>
        </p:txBody>
      </p:sp>
    </p:spTree>
  </p:cSld>
  <p:clrMapOvr>
    <a:masterClrMapping/>
  </p:clrMapOvr>
</p:sld>
</file>

<file path=ppt/theme/theme1.xml><?xml version="1.0" encoding="utf-8"?>
<a:theme xmlns:a="http://schemas.openxmlformats.org/drawingml/2006/main" xmlns:r="http://schemas.openxmlformats.org/officeDocument/2006/relationships" name="Aloha Critter Club">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